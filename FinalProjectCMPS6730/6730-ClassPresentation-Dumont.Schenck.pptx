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65" r:id="rId5"/>
    <p:sldId id="266" r:id="rId6"/>
    <p:sldId id="267" r:id="rId7"/>
    <p:sldId id="273" r:id="rId8"/>
    <p:sldId id="268" r:id="rId9"/>
    <p:sldId id="274" r:id="rId10"/>
    <p:sldId id="275" r:id="rId11"/>
    <p:sldId id="271" r:id="rId12"/>
    <p:sldId id="269" r:id="rId13"/>
    <p:sldId id="27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885"/>
    <a:srgbClr val="2E2F2D"/>
    <a:srgbClr val="215C4F"/>
    <a:srgbClr val="33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80" d="100"/>
          <a:sy n="80" d="100"/>
        </p:scale>
        <p:origin x="6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AB515-0E21-477B-BB55-C0EB6E410985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7B62-4893-48AB-AF4F-4233C452B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2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weighted average is a robust metric for evaluating sentiment classification models, especially when dealing with imbalanced datasets, as it combines the precision-recall balance of the F1 score with a weighting scheme based on class prevalence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7B62-4893-48AB-AF4F-4233C452B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43CC-6A31-2F63-3508-D0D2A73398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9487"/>
            <a:ext cx="9144000" cy="1006475"/>
          </a:xfr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215C4F"/>
                </a:solidFill>
                <a:latin typeface="FreightSans Pro Black" panose="02000606030000020004" pitchFamily="2" charset="0"/>
              </a:defRPr>
            </a:lvl1pPr>
          </a:lstStyle>
          <a:p>
            <a:r>
              <a:rPr lang="en-US" dirty="0"/>
              <a:t>A Placeholder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D0140-A867-1651-7771-22F3209208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31943"/>
            <a:ext cx="9144000" cy="1790837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333232"/>
                </a:solidFill>
                <a:latin typeface="FreightSans Pro Light" panose="020006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An example of a subtitle</a:t>
            </a:r>
          </a:p>
        </p:txBody>
      </p:sp>
    </p:spTree>
    <p:extLst>
      <p:ext uri="{BB962C8B-B14F-4D97-AF65-F5344CB8AC3E}">
        <p14:creationId xmlns:p14="http://schemas.microsoft.com/office/powerpoint/2010/main" val="8352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3DE9-A0C7-197F-C2E6-033CC858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026" y="365125"/>
            <a:ext cx="9720470" cy="1325563"/>
          </a:xfrm>
        </p:spPr>
        <p:txBody>
          <a:bodyPr/>
          <a:lstStyle>
            <a:lvl1pPr>
              <a:defRPr b="1" i="0">
                <a:solidFill>
                  <a:srgbClr val="215C4F"/>
                </a:solidFill>
                <a:latin typeface="FreightSans Pro Bold" panose="020006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9322-FFAC-56FB-B5DC-ED151AD07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024" y="1825625"/>
            <a:ext cx="9720471" cy="4351338"/>
          </a:xfrm>
        </p:spPr>
        <p:txBody>
          <a:bodyPr/>
          <a:lstStyle>
            <a:lvl1pPr>
              <a:defRPr>
                <a:solidFill>
                  <a:srgbClr val="333232"/>
                </a:solidFill>
                <a:latin typeface="Adobe Caslon Pro"/>
              </a:defRPr>
            </a:lvl1pPr>
            <a:lvl2pPr>
              <a:defRPr>
                <a:solidFill>
                  <a:srgbClr val="333232"/>
                </a:solidFill>
                <a:latin typeface="Adobe Caslon Pro"/>
              </a:defRPr>
            </a:lvl2pPr>
            <a:lvl3pPr>
              <a:defRPr>
                <a:solidFill>
                  <a:srgbClr val="333232"/>
                </a:solidFill>
                <a:latin typeface="Adobe Caslon Pro"/>
              </a:defRPr>
            </a:lvl3pPr>
            <a:lvl4pPr>
              <a:defRPr>
                <a:solidFill>
                  <a:srgbClr val="333232"/>
                </a:solidFill>
                <a:latin typeface="Adobe Caslon Pro"/>
              </a:defRPr>
            </a:lvl4pPr>
            <a:lvl5pPr>
              <a:defRPr>
                <a:solidFill>
                  <a:srgbClr val="333232"/>
                </a:solidFill>
                <a:latin typeface="Adobe Caslon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4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B55B-3319-F886-F0AC-C2B53231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480" y="1709738"/>
            <a:ext cx="10046970" cy="2852737"/>
          </a:xfrm>
        </p:spPr>
        <p:txBody>
          <a:bodyPr anchor="b"/>
          <a:lstStyle>
            <a:lvl1pPr>
              <a:defRPr sz="6000">
                <a:solidFill>
                  <a:srgbClr val="2078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76B0-E8C2-3A29-DA2C-45670EE7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480" y="4589463"/>
            <a:ext cx="1004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E2F2D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328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58A7-043D-8581-D1D2-5CC71749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365125"/>
            <a:ext cx="942848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BF8D-A665-B86C-C841-313359724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9520" y="1825625"/>
            <a:ext cx="47802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4682C-A7B0-CA44-4913-35CE279BB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495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11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9926-AB06-30D1-F3A2-40A28F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65125"/>
            <a:ext cx="9144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BC9B-7BB0-E328-916A-6D5C0F872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681163"/>
            <a:ext cx="4473575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7B83-3DF5-0FDF-72B1-9DDDE5809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00" y="2505075"/>
            <a:ext cx="4473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EA89-6C41-0D9B-6FB0-DFC7C977C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495800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F87F5-17FB-3449-9EC1-BD781151F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4958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447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039F-AFDB-E738-FD02-FB299398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911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8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834-4552-C667-AA12-445ECB44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80" y="457200"/>
            <a:ext cx="357314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6E24-9D40-C694-93F1-25A466DE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0993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388DF-AFA2-2C15-E1E3-8D31D4573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8880" y="2057400"/>
            <a:ext cx="3573145" cy="3811588"/>
          </a:xfrm>
        </p:spPr>
        <p:txBody>
          <a:bodyPr/>
          <a:lstStyle>
            <a:lvl1pPr marL="0" indent="0">
              <a:buNone/>
              <a:defRPr sz="16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331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8835-941E-ED71-3D88-799356FF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40" y="457200"/>
            <a:ext cx="35121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F3384-D19B-8B6C-F29C-6E0D0611A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74897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129E7-E2DC-0791-BA7E-2449A67A6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840" y="2057400"/>
            <a:ext cx="3512185" cy="3811588"/>
          </a:xfrm>
        </p:spPr>
        <p:txBody>
          <a:bodyPr/>
          <a:lstStyle>
            <a:lvl1pPr marL="0" indent="0">
              <a:buNone/>
              <a:defRPr sz="16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811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lines&#10;&#10;Description automatically generated">
            <a:extLst>
              <a:ext uri="{FF2B5EF4-FFF2-40B4-BE49-F238E27FC236}">
                <a16:creationId xmlns:a16="http://schemas.microsoft.com/office/drawing/2014/main" id="{630B6F28-9ED4-A573-C6D2-77F49C5E8B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61844" y="-34787"/>
            <a:ext cx="12315687" cy="692757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53125-C224-B56E-D0A4-9A23B1DF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365125"/>
            <a:ext cx="10114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FC44-ACFA-4BBC-82DD-4AC228A0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9520" y="1825625"/>
            <a:ext cx="10114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7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5C4F"/>
          </a:solidFill>
          <a:latin typeface="FreightSans Pro Black" panose="02000606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2F2D"/>
          </a:solidFill>
          <a:latin typeface="Adobe Caslon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E2F2D"/>
          </a:solidFill>
          <a:latin typeface="Adobe Caslon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E2F2D"/>
          </a:solidFill>
          <a:latin typeface="Adobe Caslon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E2F2D"/>
          </a:solidFill>
          <a:latin typeface="Adobe Caslon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E2F2D"/>
          </a:solidFill>
          <a:latin typeface="Adobe Caslon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abs/10.1080/12460125.2020.1864106" TargetMode="External"/><Relationship Id="rId7" Type="http://schemas.openxmlformats.org/officeDocument/2006/relationships/hyperlink" Target="https://cdr.lib.unc.edu/downloads/4f16c8090?locale=en" TargetMode="External"/><Relationship Id="rId2" Type="http://schemas.openxmlformats.org/officeDocument/2006/relationships/hyperlink" Target="https://www.mdpi.com/2504-2289/8/11/14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forum.net/paper/view/20914" TargetMode="External"/><Relationship Id="rId5" Type="http://schemas.openxmlformats.org/officeDocument/2006/relationships/hyperlink" Target="https://www.tandfonline.com/doi/abs/10.1080/1528008X.2016.1250243?casa_token=3343pqRoCCwAAAAA:nULDsc5QgFROIP2shCOffBtXiwK_DoOktl2cm0OvD5CdNiU9nCmnH_mOKjlzP-yrIPv5Cfo4SSoumw" TargetMode="External"/><Relationship Id="rId4" Type="http://schemas.openxmlformats.org/officeDocument/2006/relationships/hyperlink" Target="https://dukestatsci.github.io/thesis-sp18-duan-senti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22A4-D10F-15BC-FB0D-F22490CF2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Restaurant Review Multi-Label Sentiment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72AB8-8101-E4B7-3386-B1E6B0F1C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04/22/2025</a:t>
            </a:r>
          </a:p>
          <a:p>
            <a:r>
              <a:rPr lang="en-US" dirty="0"/>
              <a:t>H. Jacob Schenck</a:t>
            </a:r>
          </a:p>
          <a:p>
            <a:r>
              <a:rPr lang="en-US" dirty="0"/>
              <a:t>Aaron Dumont</a:t>
            </a:r>
          </a:p>
          <a:p>
            <a:r>
              <a:rPr lang="en-US" dirty="0"/>
              <a:t>CMPS 6730</a:t>
            </a:r>
          </a:p>
        </p:txBody>
      </p:sp>
    </p:spTree>
    <p:extLst>
      <p:ext uri="{BB962C8B-B14F-4D97-AF65-F5344CB8AC3E}">
        <p14:creationId xmlns:p14="http://schemas.microsoft.com/office/powerpoint/2010/main" val="82870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9640-5364-0A2D-864C-4D8D8E98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F4CBD-8924-2E0E-8B76-BCAEBBB06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Deliverable</a:t>
            </a:r>
            <a:r>
              <a:rPr lang="en-US" dirty="0"/>
              <a:t>: We built a multi-label sentiment classifier for restaurant reviews</a:t>
            </a:r>
          </a:p>
          <a:p>
            <a:r>
              <a:rPr lang="en-US" b="1" dirty="0"/>
              <a:t>Goal</a:t>
            </a:r>
            <a:r>
              <a:rPr lang="en-US" dirty="0"/>
              <a:t>: Analyze sentiment for overall reviews and specific aspects (food, service, ambiance, price, context) to provide timely feedback for restaurants</a:t>
            </a:r>
          </a:p>
          <a:p>
            <a:r>
              <a:rPr lang="en-US" b="1" dirty="0"/>
              <a:t>Approach</a:t>
            </a:r>
            <a:r>
              <a:rPr lang="en-US" dirty="0"/>
              <a:t>: Using keyword spotting for aspect identification and data from the Yelp open database, we compared a TF-IDF + Logistic regression baseline model with a fine-tuned </a:t>
            </a:r>
            <a:r>
              <a:rPr lang="en-US" dirty="0" err="1"/>
              <a:t>DistilBERT</a:t>
            </a:r>
            <a:r>
              <a:rPr lang="en-US" dirty="0"/>
              <a:t> transformer model to predict sentiment for the 5 aspects and an overall review sentiment</a:t>
            </a:r>
          </a:p>
        </p:txBody>
      </p:sp>
    </p:spTree>
    <p:extLst>
      <p:ext uri="{BB962C8B-B14F-4D97-AF65-F5344CB8AC3E}">
        <p14:creationId xmlns:p14="http://schemas.microsoft.com/office/powerpoint/2010/main" val="12117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7B30-52A6-E8CE-67C1-B707170A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F167-B2A1-DA47-FD8F-D323C3B6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5111-6FD2-AAFF-EB4C-95A351526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Conclusions:</a:t>
            </a:r>
          </a:p>
          <a:p>
            <a:pPr lvl="1"/>
            <a:r>
              <a:rPr lang="en-US" dirty="0"/>
              <a:t>The fine-tuned </a:t>
            </a:r>
            <a:r>
              <a:rPr lang="en-US" dirty="0" err="1"/>
              <a:t>DistilBERT</a:t>
            </a:r>
            <a:r>
              <a:rPr lang="en-US" dirty="0"/>
              <a:t> model significantly outperformed the baseline model in classifying sentiment across multiple aspects and overall sentiment</a:t>
            </a:r>
          </a:p>
        </p:txBody>
      </p:sp>
    </p:spTree>
    <p:extLst>
      <p:ext uri="{BB962C8B-B14F-4D97-AF65-F5344CB8AC3E}">
        <p14:creationId xmlns:p14="http://schemas.microsoft.com/office/powerpoint/2010/main" val="6883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2361-2E9C-B6F1-4612-4AA60370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Problem &amp;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A488A-F437-0C40-A348-59C605CEE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Problem:</a:t>
            </a:r>
            <a:r>
              <a:rPr lang="en-US" dirty="0"/>
              <a:t> There is a need for granular understanding of customer opinions beyond simple positive/negative scores</a:t>
            </a:r>
          </a:p>
          <a:p>
            <a:pPr lvl="1"/>
            <a:r>
              <a:rPr lang="en-US" dirty="0"/>
              <a:t>Restaurants need detailed feedback on specific areas as well as a reliable overall sentiment assessment</a:t>
            </a:r>
          </a:p>
          <a:p>
            <a:r>
              <a:rPr lang="en-US" b="1" dirty="0"/>
              <a:t>Importance: </a:t>
            </a:r>
            <a:r>
              <a:rPr lang="en-US" dirty="0"/>
              <a:t>The restaurant industry is highly competitive and reviews strongly influence success</a:t>
            </a:r>
          </a:p>
          <a:p>
            <a:pPr lvl="1"/>
            <a:r>
              <a:rPr lang="en-US" dirty="0"/>
              <a:t>Granular and overall sentiment feedback facilitates continuous improvement</a:t>
            </a:r>
          </a:p>
          <a:p>
            <a:pPr lvl="1"/>
            <a:r>
              <a:rPr lang="en-US" dirty="0"/>
              <a:t>Our classifier provides this detailed breakdown and overall score</a:t>
            </a:r>
          </a:p>
        </p:txBody>
      </p:sp>
    </p:spTree>
    <p:extLst>
      <p:ext uri="{BB962C8B-B14F-4D97-AF65-F5344CB8AC3E}">
        <p14:creationId xmlns:p14="http://schemas.microsoft.com/office/powerpoint/2010/main" val="381561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8D88-C60E-5431-3438-69E7C589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Background/Related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7365-FACC-46F9-E7E9-4718401CD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Our project builds upon existing research in Aspect-Based Sentiment Analysis (ABSA)</a:t>
            </a:r>
          </a:p>
          <a:p>
            <a:r>
              <a:rPr lang="en-US" dirty="0"/>
              <a:t>We utilized established aspects (food, service, ambiance, price) and included the emerging aspect of context (e.g. birthday, anniversary,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We leveraged a transformer model aligning with recent trends showing their effectiveness for ABSA</a:t>
            </a:r>
          </a:p>
          <a:p>
            <a:r>
              <a:rPr lang="en-US" dirty="0"/>
              <a:t>We initially focused on the New Orleans area but expanded to include all data in the dataset and implemented a direct multi-output transformer classification (5 </a:t>
            </a:r>
            <a:r>
              <a:rPr lang="en-US" dirty="0" err="1"/>
              <a:t>aspects+overall</a:t>
            </a:r>
            <a:r>
              <a:rPr lang="en-US" dirty="0"/>
              <a:t>) unlike most prior work using techniques like LDA or Naïve Bayes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6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CB81-A00C-F235-F55A-3B45B7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30CC-392D-3D6C-7E9C-6E9457C83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Source: Yelp Open Dataset (reviews &amp; businesses)</a:t>
            </a:r>
          </a:p>
          <a:p>
            <a:r>
              <a:rPr lang="en-US" dirty="0"/>
              <a:t>Filtering: Initially focused on New Orleans area restaurant reviews between 01/2019 and 12/2024 (28, 377) but then expanded to all reviews (~1.5 million) after text preprocessing</a:t>
            </a:r>
          </a:p>
          <a:p>
            <a:r>
              <a:rPr lang="en-US" dirty="0"/>
              <a:t>Aspect identification: Defined 5 aspects with keyword lists</a:t>
            </a:r>
          </a:p>
          <a:p>
            <a:pPr lvl="1"/>
            <a:r>
              <a:rPr lang="en-US" dirty="0"/>
              <a:t>Sentences classified based on keyword counts</a:t>
            </a:r>
          </a:p>
          <a:p>
            <a:r>
              <a:rPr lang="en-US" dirty="0"/>
              <a:t>Sentiment scoring (initial): NLTK VADER used to calculate compound sentiment scores for each sentence and for the overall review. </a:t>
            </a:r>
          </a:p>
          <a:p>
            <a:pPr lvl="1"/>
            <a:r>
              <a:rPr lang="en-US" dirty="0"/>
              <a:t>Weighted scores calculated per aspect based on sentence proportion and sentiment</a:t>
            </a:r>
          </a:p>
        </p:txBody>
      </p:sp>
    </p:spTree>
    <p:extLst>
      <p:ext uri="{BB962C8B-B14F-4D97-AF65-F5344CB8AC3E}">
        <p14:creationId xmlns:p14="http://schemas.microsoft.com/office/powerpoint/2010/main" val="155183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C326-4979-F6D7-2568-56797612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C50B-AAD4-2300-E6B8-3049366C5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Preprocessing:</a:t>
            </a:r>
            <a:r>
              <a:rPr lang="en-US" dirty="0"/>
              <a:t> Standard steps: lowercasing, punctuation/URL removal, tokenization, stop word removal, lemmatization</a:t>
            </a:r>
          </a:p>
          <a:p>
            <a:r>
              <a:rPr lang="en-US" b="1" dirty="0"/>
              <a:t>Target Creation: </a:t>
            </a:r>
            <a:r>
              <a:rPr lang="en-US" dirty="0"/>
              <a:t>Continuous VADER scores (for aspects and overall) binned into 3 categories (negative[0], neutral[1], positive[2]) using fixed thresholds (-0.05, 0.05)</a:t>
            </a:r>
          </a:p>
          <a:p>
            <a:r>
              <a:rPr lang="en-US" b="1" dirty="0"/>
              <a:t>Models: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Baseline: </a:t>
            </a:r>
            <a:r>
              <a:rPr lang="en-US" dirty="0"/>
              <a:t>TF-IDF (top 5K features) + Logistic regression using multioutput classifier</a:t>
            </a:r>
          </a:p>
          <a:p>
            <a:pPr lvl="1"/>
            <a:r>
              <a:rPr lang="en-US" b="1" dirty="0"/>
              <a:t>Advanced:</a:t>
            </a:r>
            <a:r>
              <a:rPr lang="en-US" dirty="0"/>
              <a:t> Fine-tuned </a:t>
            </a:r>
            <a:r>
              <a:rPr lang="en-US" dirty="0" err="1"/>
              <a:t>DistillBERT</a:t>
            </a:r>
            <a:r>
              <a:rPr lang="en-US" dirty="0"/>
              <a:t> with a modified </a:t>
            </a:r>
            <a:r>
              <a:rPr lang="en-US" dirty="0" err="1"/>
              <a:t>classifer</a:t>
            </a:r>
            <a:r>
              <a:rPr lang="en-US" dirty="0"/>
              <a:t> head for multi-output prediction (6 labels*3classes=18 outputs)</a:t>
            </a:r>
          </a:p>
          <a:p>
            <a:pPr lvl="2"/>
            <a:r>
              <a:rPr lang="en-US" dirty="0"/>
              <a:t>Trained with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AdamW</a:t>
            </a:r>
            <a:r>
              <a:rPr lang="en-US" dirty="0"/>
              <a:t> optimizer, </a:t>
            </a:r>
            <a:r>
              <a:rPr lang="en-US" dirty="0" err="1"/>
              <a:t>CrossEntropyLoss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1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6587-8740-2ED0-5A38-8B82C5F5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54B8-B2CC-F8FB-F0D0-18F9C0AFE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split:</a:t>
            </a:r>
            <a:r>
              <a:rPr lang="en-US" dirty="0"/>
              <a:t> 80% train (1,220,250 reviews), 20% test (305,063 reviews)</a:t>
            </a:r>
          </a:p>
          <a:p>
            <a:r>
              <a:rPr lang="en-US" b="1" dirty="0"/>
              <a:t>Baseline comparison: </a:t>
            </a:r>
            <a:r>
              <a:rPr lang="en-US" dirty="0"/>
              <a:t>TF-IDF + Logistic Regression against fine-tuned </a:t>
            </a:r>
            <a:r>
              <a:rPr lang="en-US" dirty="0" err="1"/>
              <a:t>DistilBERT</a:t>
            </a:r>
            <a:endParaRPr lang="en-US" dirty="0"/>
          </a:p>
          <a:p>
            <a:r>
              <a:rPr lang="en-US" b="1" dirty="0"/>
              <a:t>Evaluation Metrics: </a:t>
            </a:r>
            <a:r>
              <a:rPr lang="en-US" dirty="0"/>
              <a:t>Precision, Recall, F1-Score (weighted), Accuracy per aspect and overall. Micro/Macro averages across all 6 labels</a:t>
            </a:r>
          </a:p>
        </p:txBody>
      </p:sp>
    </p:spTree>
    <p:extLst>
      <p:ext uri="{BB962C8B-B14F-4D97-AF65-F5344CB8AC3E}">
        <p14:creationId xmlns:p14="http://schemas.microsoft.com/office/powerpoint/2010/main" val="77318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F65B-FC28-6B1F-28A4-269FAD48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895-275D-62E8-AE70-C59B73B8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79FAF0-D3A8-4B53-7092-BE8966D8C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088088"/>
              </p:ext>
            </p:extLst>
          </p:nvPr>
        </p:nvGraphicFramePr>
        <p:xfrm>
          <a:off x="1302235" y="2678182"/>
          <a:ext cx="972026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085">
                  <a:extLst>
                    <a:ext uri="{9D8B030D-6E8A-4147-A177-3AD203B41FA5}">
                      <a16:colId xmlns:a16="http://schemas.microsoft.com/office/drawing/2014/main" val="3291764900"/>
                    </a:ext>
                  </a:extLst>
                </a:gridCol>
                <a:gridCol w="3692939">
                  <a:extLst>
                    <a:ext uri="{9D8B030D-6E8A-4147-A177-3AD203B41FA5}">
                      <a16:colId xmlns:a16="http://schemas.microsoft.com/office/drawing/2014/main" val="2789494511"/>
                    </a:ext>
                  </a:extLst>
                </a:gridCol>
                <a:gridCol w="3764237">
                  <a:extLst>
                    <a:ext uri="{9D8B030D-6E8A-4147-A177-3AD203B41FA5}">
                      <a16:colId xmlns:a16="http://schemas.microsoft.com/office/drawing/2014/main" val="1641588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Model (</a:t>
                      </a:r>
                      <a:r>
                        <a:rPr lang="en-US" dirty="0" err="1"/>
                        <a:t>TF-IDF+LogReg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Model (</a:t>
                      </a:r>
                      <a:r>
                        <a:rPr lang="en-US" dirty="0" err="1"/>
                        <a:t>DistilBERT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08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6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Ambiance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6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0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24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59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Micro Avg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8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 Avg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589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B10D3E-9C71-FC20-2144-45D4C6C79DA1}"/>
              </a:ext>
            </a:extLst>
          </p:cNvPr>
          <p:cNvSpPr txBox="1"/>
          <p:nvPr/>
        </p:nvSpPr>
        <p:spPr>
          <a:xfrm>
            <a:off x="1435652" y="1978991"/>
            <a:ext cx="9186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Key Quantitative Results </a:t>
            </a:r>
            <a:r>
              <a:rPr lang="en-US" sz="2800" dirty="0"/>
              <a:t>– Weighted F1-Score on Test Set</a:t>
            </a:r>
          </a:p>
        </p:txBody>
      </p:sp>
    </p:spTree>
    <p:extLst>
      <p:ext uri="{BB962C8B-B14F-4D97-AF65-F5344CB8AC3E}">
        <p14:creationId xmlns:p14="http://schemas.microsoft.com/office/powerpoint/2010/main" val="308802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B80C-FF7D-6657-C64E-4B050541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E889-D51E-CD92-E47E-C4B0E85D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Analysis – The model distinguishes (+)/(-) for food and service well but struggles more with ambiance, price and context</a:t>
            </a:r>
          </a:p>
          <a:p>
            <a:pPr lvl="1"/>
            <a:r>
              <a:rPr lang="en-US" dirty="0"/>
              <a:t>Potentially due to fewer training examples in those categories</a:t>
            </a:r>
          </a:p>
        </p:txBody>
      </p:sp>
    </p:spTree>
    <p:extLst>
      <p:ext uri="{BB962C8B-B14F-4D97-AF65-F5344CB8AC3E}">
        <p14:creationId xmlns:p14="http://schemas.microsoft.com/office/powerpoint/2010/main" val="78565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E295-633A-7CAE-2839-6C3290FC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6B33-B14D-3B0F-60BC-49419D4D0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594B7-6CF5-A638-0CB8-735E4992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578"/>
            <a:ext cx="12192000" cy="270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2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E7F6-F478-8042-E1A2-FF66A0F1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F159E-E9FC-B1AA-7668-4B5AAAA68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Fine-tuned transformer models (</a:t>
            </a:r>
            <a:r>
              <a:rPr lang="en-US" dirty="0" err="1"/>
              <a:t>DistilBERT</a:t>
            </a:r>
            <a:r>
              <a:rPr lang="en-US" dirty="0"/>
              <a:t>) are highly effective for multi-aspect and overall sentiment classification </a:t>
            </a:r>
          </a:p>
          <a:p>
            <a:pPr lvl="1"/>
            <a:r>
              <a:rPr lang="en-US" dirty="0"/>
              <a:t>Significantly outperforms traditional methods like logistic regression</a:t>
            </a:r>
          </a:p>
          <a:p>
            <a:pPr lvl="1"/>
            <a:r>
              <a:rPr lang="en-US" dirty="0"/>
              <a:t>Granular and simultaneous overall analysis is feasible and valuable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90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4E75-8251-AB6F-5A34-EE2911E1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CA4F-8CD6-1F03-1857-4BB08838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3532-B528-D6F5-BC5F-19B264629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Future Ideas</a:t>
            </a:r>
          </a:p>
          <a:p>
            <a:pPr lvl="1"/>
            <a:r>
              <a:rPr lang="en-US" dirty="0"/>
              <a:t>Refine aspect keyword lists</a:t>
            </a:r>
          </a:p>
          <a:p>
            <a:pPr lvl="1"/>
            <a:r>
              <a:rPr lang="en-US" dirty="0"/>
              <a:t>Add more training data, especially for weaker categories (e.g. ambiance, price, context)</a:t>
            </a:r>
          </a:p>
          <a:p>
            <a:pPr lvl="1"/>
            <a:r>
              <a:rPr lang="en-US" dirty="0"/>
              <a:t>Hyperparameter tuning for the transformer model</a:t>
            </a:r>
          </a:p>
          <a:p>
            <a:pPr lvl="1"/>
            <a:r>
              <a:rPr lang="en-US" dirty="0"/>
              <a:t>Manual tuning of sentiment score cutoffs</a:t>
            </a:r>
          </a:p>
          <a:p>
            <a:pPr lvl="1"/>
            <a:r>
              <a:rPr lang="en-US" dirty="0"/>
              <a:t>Possibly explore explainability techniques (LIME, SHAP) to understand model decisions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46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D6DC-3179-7534-2CD5-5032782C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FCAB-0802-F4D9-F6B2-0B28CC0C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Akhtar, Z., Ahmad, T., Khan, M. A., &amp;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Abidin, S. Z. (2024). Explainable Aspect-Based Sentiment Analysis Using Transformer Models.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Applied Sciences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(11), 141.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https://www.mdpi.com/2504-2289/8/11/141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Twairesh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N., &amp; Al-Khalifa, H. (2021). Sentiment classification and aspect-based sentiment analysis on yelp reviews using deep learning and word embeddings.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Journal of Decision Systems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(2-3), 226-252.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https://www.tandfonline.com/doi/abs/10.1080/12460125.2020.1864106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Duan, T. (2018).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Aspect-based Opinion Mining with Yelp Restaurant Reviews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Duke University Statistical Science Theses.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https://dukestatsci.github.io/thesis-sp18-duan-sentiment/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Gan, Q., Ferns, B.H., Yu, Y., Jin, L (2016). A text mining and multidimensional sentiment analysis of online restaurant reviews.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Journal of Quality Assurance in Hospitality and </a:t>
            </a:r>
            <a:r>
              <a:rPr lang="en-US" sz="1800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Tourism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8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://www.tandfonline.com/doi/abs/10.1080/1528008X.2016.1250243?casa_token=3343pqRoCCwAAAAA:nULDsc5QgFROIP2shCOffBtXiwK_DoOktl2cm0OvD5CdNiU9nCmnH_mOKjlzP-yrIPv5Cfo4SSoumw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Musa, A., Adam, F. M., Ibrahim, U., &amp;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Zandam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A. Y. (2024).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HauBert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 transformer Model for Aspect-based Sentiment Analysis of Hausa-Language movie reviews.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Proceedings of the 5th International Electronic Conference on Applied Sciences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6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https://sciforum.net/paper/view/20914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Peng, G. (2020).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Aspect Based Rating Prediction For Yelp Customer Review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Master's Paper, University of North Carolina at Chapel Hill.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7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https://cdr.lib.unc.edu/downloads/4f16c8090?locale=en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9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10781B63-F1CC-EC4F-BBF0-09193836FBAA}" vid="{D642F047-137F-C34C-BC34-DF7D3C4742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Light_Wave_Template</Template>
  <TotalTime>112</TotalTime>
  <Words>1062</Words>
  <Application>Microsoft Office PowerPoint</Application>
  <PresentationFormat>Widescreen</PresentationFormat>
  <Paragraphs>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Adobe Caslon Pro</vt:lpstr>
      <vt:lpstr>Aptos</vt:lpstr>
      <vt:lpstr>Arial</vt:lpstr>
      <vt:lpstr>FreightSans Pro Black</vt:lpstr>
      <vt:lpstr>FreightSans Pro Bold</vt:lpstr>
      <vt:lpstr>FreightSans Pro Light</vt:lpstr>
      <vt:lpstr>Office Theme</vt:lpstr>
      <vt:lpstr>A Restaurant Review Multi-Label Sentiment Classifier</vt:lpstr>
      <vt:lpstr>Summary</vt:lpstr>
      <vt:lpstr>Summary</vt:lpstr>
      <vt:lpstr>Introduction: Problem &amp; Importance</vt:lpstr>
      <vt:lpstr>Background/Related Work</vt:lpstr>
      <vt:lpstr>Approach</vt:lpstr>
      <vt:lpstr>Approach </vt:lpstr>
      <vt:lpstr>Experiment &amp; Results</vt:lpstr>
      <vt:lpstr>Experiment &amp; Results</vt:lpstr>
      <vt:lpstr>Experiment &amp; Results</vt:lpstr>
      <vt:lpstr>Demonstration</vt:lpstr>
      <vt:lpstr>Conclusion &amp; Future Work</vt:lpstr>
      <vt:lpstr>Conclusion &amp;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Dumont</dc:creator>
  <cp:lastModifiedBy>Aaron Dumont</cp:lastModifiedBy>
  <cp:revision>6</cp:revision>
  <dcterms:created xsi:type="dcterms:W3CDTF">2025-03-28T13:16:58Z</dcterms:created>
  <dcterms:modified xsi:type="dcterms:W3CDTF">2025-04-20T14:54:26Z</dcterms:modified>
</cp:coreProperties>
</file>